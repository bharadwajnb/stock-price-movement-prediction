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72" r:id="rId3"/>
    <p:sldId id="258" r:id="rId4"/>
    <p:sldId id="259" r:id="rId5"/>
    <p:sldId id="263" r:id="rId6"/>
    <p:sldId id="267" r:id="rId7"/>
    <p:sldId id="269" r:id="rId8"/>
    <p:sldId id="274" r:id="rId9"/>
    <p:sldId id="275" r:id="rId10"/>
    <p:sldId id="273" r:id="rId11"/>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12" autoAdjust="0"/>
    <p:restoredTop sz="95033" autoAdjust="0"/>
  </p:normalViewPr>
  <p:slideViewPr>
    <p:cSldViewPr>
      <p:cViewPr varScale="1">
        <p:scale>
          <a:sx n="69" d="100"/>
          <a:sy n="69" d="100"/>
        </p:scale>
        <p:origin x="1565"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29-09-2026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6</a:t>
            </a:fld>
            <a:endParaRPr lang="en-IN"/>
          </a:p>
        </p:txBody>
      </p:sp>
    </p:spTree>
    <p:extLst>
      <p:ext uri="{BB962C8B-B14F-4D97-AF65-F5344CB8AC3E}">
        <p14:creationId xmlns:p14="http://schemas.microsoft.com/office/powerpoint/2010/main" val="838086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7E471F2-2083-493A-8C9E-53209FFA1EC8}" type="slidenum">
              <a:rPr lang="en-IN" smtClean="0"/>
              <a:t>7</a:t>
            </a:fld>
            <a:endParaRPr lang="en-IN"/>
          </a:p>
        </p:txBody>
      </p:sp>
    </p:spTree>
    <p:extLst>
      <p:ext uri="{BB962C8B-B14F-4D97-AF65-F5344CB8AC3E}">
        <p14:creationId xmlns:p14="http://schemas.microsoft.com/office/powerpoint/2010/main" val="3879157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C54B7-D497-E099-6CD6-CDB755FDC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837D4-D6D4-0009-E6E8-E0DDAD5302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D727A-438B-90FF-33FB-6114DBC0DAE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811097B-A3A8-A4C2-222E-98F4657C4775}"/>
              </a:ext>
            </a:extLst>
          </p:cNvPr>
          <p:cNvSpPr>
            <a:spLocks noGrp="1"/>
          </p:cNvSpPr>
          <p:nvPr>
            <p:ph type="sldNum" sz="quarter" idx="5"/>
          </p:nvPr>
        </p:nvSpPr>
        <p:spPr/>
        <p:txBody>
          <a:bodyPr/>
          <a:lstStyle/>
          <a:p>
            <a:fld id="{67E471F2-2083-493A-8C9E-53209FFA1EC8}" type="slidenum">
              <a:rPr lang="en-IN" smtClean="0"/>
              <a:t>8</a:t>
            </a:fld>
            <a:endParaRPr lang="en-IN"/>
          </a:p>
        </p:txBody>
      </p:sp>
    </p:spTree>
    <p:extLst>
      <p:ext uri="{BB962C8B-B14F-4D97-AF65-F5344CB8AC3E}">
        <p14:creationId xmlns:p14="http://schemas.microsoft.com/office/powerpoint/2010/main" val="3674645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95B9D-AC31-D62F-7512-4C575B379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B3E8A7-D327-2763-971E-5FF230DC8C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6C3F3F-E030-24C6-DEB4-9605241E3B4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20477AE-8C6E-F033-3FBC-9489FC83E181}"/>
              </a:ext>
            </a:extLst>
          </p:cNvPr>
          <p:cNvSpPr>
            <a:spLocks noGrp="1"/>
          </p:cNvSpPr>
          <p:nvPr>
            <p:ph type="sldNum" sz="quarter" idx="5"/>
          </p:nvPr>
        </p:nvSpPr>
        <p:spPr/>
        <p:txBody>
          <a:bodyPr/>
          <a:lstStyle/>
          <a:p>
            <a:fld id="{67E471F2-2083-493A-8C9E-53209FFA1EC8}" type="slidenum">
              <a:rPr lang="en-IN" smtClean="0"/>
              <a:t>9</a:t>
            </a:fld>
            <a:endParaRPr lang="en-IN"/>
          </a:p>
        </p:txBody>
      </p:sp>
    </p:spTree>
    <p:extLst>
      <p:ext uri="{BB962C8B-B14F-4D97-AF65-F5344CB8AC3E}">
        <p14:creationId xmlns:p14="http://schemas.microsoft.com/office/powerpoint/2010/main" val="4066493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9/29/2026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jp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9.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3.sv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104918"/>
          </a:xfrm>
          <a:prstGeom prst="rect">
            <a:avLst/>
          </a:prstGeom>
        </p:spPr>
        <p:txBody>
          <a:bodyPr vert="horz" wrap="square" lIns="0" tIns="11430" rIns="0" bIns="0" rtlCol="0">
            <a:spAutoFit/>
          </a:bodyPr>
          <a:lstStyle/>
          <a:p>
            <a:pPr marL="12700" algn="ctr">
              <a:lnSpc>
                <a:spcPct val="150000"/>
              </a:lnSpc>
              <a:spcBef>
                <a:spcPts val="90"/>
              </a:spcBef>
            </a:pPr>
            <a:r>
              <a:rPr lang="en-IN" sz="2800" spc="-10" dirty="0">
                <a:latin typeface="Times New Roman" panose="02020603050405020304" pitchFamily="18" charset="0"/>
                <a:cs typeface="Times New Roman" panose="02020603050405020304" pitchFamily="18" charset="0"/>
              </a:rPr>
              <a:t>Machine Learning</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Second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653494" y="2514600"/>
            <a:ext cx="8751412" cy="3583481"/>
          </a:xfrm>
          <a:prstGeom prst="rect">
            <a:avLst/>
          </a:prstGeom>
        </p:spPr>
        <p:txBody>
          <a:bodyPr vert="horz" wrap="square" lIns="0" tIns="16510" rIns="0" bIns="0" rtlCol="0">
            <a:spAutoFit/>
          </a:bodyPr>
          <a:lstStyle/>
          <a:p>
            <a:pPr algn="ctr">
              <a:lnSpc>
                <a:spcPct val="104000"/>
              </a:lnSpc>
            </a:pPr>
            <a:r>
              <a:rPr lang="en-US" sz="3200" dirty="0">
                <a:solidFill>
                  <a:srgbClr val="1B1B27"/>
                </a:solidFill>
                <a:latin typeface="Times New Roman" panose="02020603050405020304" pitchFamily="18" charset="0"/>
                <a:ea typeface="Raleway" pitchFamily="34" charset="-122"/>
                <a:cs typeface="Times New Roman" panose="02020603050405020304" pitchFamily="18" charset="0"/>
              </a:rPr>
              <a:t>Stock Price Movement Prediction </a:t>
            </a:r>
            <a:endParaRPr lang="en-US" sz="3200" dirty="0">
              <a:latin typeface="Times New Roman" panose="02020603050405020304" pitchFamily="18" charset="0"/>
              <a:cs typeface="Times New Roman" panose="02020603050405020304" pitchFamily="18" charset="0"/>
            </a:endParaRPr>
          </a:p>
          <a:p>
            <a:pPr algn="ctr">
              <a:spcBef>
                <a:spcPts val="130"/>
              </a:spcBef>
            </a:pPr>
            <a:br>
              <a:rPr lang="en-US" sz="1600" dirty="0"/>
            </a:br>
            <a:r>
              <a:rPr sz="2000" dirty="0">
                <a:solidFill>
                  <a:srgbClr val="FF0000"/>
                </a:solidFill>
              </a:rPr>
              <a:t>Presented by</a:t>
            </a:r>
            <a:br>
              <a:rPr lang="en-US" sz="2000" dirty="0">
                <a:solidFill>
                  <a:srgbClr val="FF0000"/>
                </a:solidFill>
              </a:rPr>
            </a:br>
            <a:br>
              <a:rPr lang="en-US" sz="2000" dirty="0"/>
            </a:br>
            <a:r>
              <a:rPr lang="en-IN" sz="2000" dirty="0"/>
              <a:t>M V Bharadwaj (24B11CS259)</a:t>
            </a:r>
            <a:br>
              <a:rPr lang="en-IN" sz="2000" dirty="0"/>
            </a:br>
            <a:r>
              <a:rPr lang="en-US" sz="2000" dirty="0"/>
              <a:t>Macha Vivek(24B11CS258)</a:t>
            </a:r>
            <a:br>
              <a:rPr sz="2000" dirty="0"/>
            </a:br>
            <a:r>
              <a:rPr sz="2000" dirty="0"/>
              <a:t>Chandra Koushik (24B11CS502)</a:t>
            </a:r>
            <a:endParaRPr lang="en-US" sz="2000" dirty="0"/>
          </a:p>
          <a:p>
            <a:pPr algn="ctr">
              <a:spcBef>
                <a:spcPts val="130"/>
              </a:spcBef>
            </a:pPr>
            <a:br>
              <a:rPr lang="en-US" sz="1600" dirty="0"/>
            </a:br>
            <a:br>
              <a:rPr lang="en-US" sz="1600" dirty="0"/>
            </a:br>
            <a:r>
              <a:rPr lang="en-US" sz="2400" dirty="0">
                <a:solidFill>
                  <a:srgbClr val="943735"/>
                </a:solidFill>
                <a:latin typeface="Times New Roman" panose="02020603050405020304" pitchFamily="18" charset="0"/>
                <a:cs typeface="Times New Roman" panose="02020603050405020304" pitchFamily="18" charset="0"/>
              </a:rPr>
              <a:t>Department</a:t>
            </a:r>
            <a:r>
              <a:rPr lang="en-US" sz="2400" spc="-60" dirty="0">
                <a:solidFill>
                  <a:srgbClr val="943735"/>
                </a:solidFill>
                <a:latin typeface="Times New Roman" panose="02020603050405020304" pitchFamily="18" charset="0"/>
                <a:cs typeface="Times New Roman" panose="02020603050405020304" pitchFamily="18" charset="0"/>
              </a:rPr>
              <a:t> </a:t>
            </a:r>
            <a:r>
              <a:rPr lang="en-US" sz="2400" dirty="0">
                <a:solidFill>
                  <a:srgbClr val="943735"/>
                </a:solidFill>
                <a:latin typeface="Times New Roman" panose="02020603050405020304" pitchFamily="18" charset="0"/>
                <a:cs typeface="Times New Roman" panose="02020603050405020304" pitchFamily="18" charset="0"/>
              </a:rPr>
              <a:t>of  Computer Science and Engineering </a:t>
            </a:r>
            <a:endParaRPr lang="en-US" sz="2400" spc="-10" dirty="0">
              <a:solidFill>
                <a:srgbClr val="943735"/>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2400" dirty="0">
              <a:solidFill>
                <a:schemeClr val="tx2">
                  <a:lumMod val="7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5B4CC-275E-8392-552A-FAFDA88835FA}"/>
            </a:ext>
          </a:extLst>
        </p:cNvPr>
        <p:cNvGrpSpPr/>
        <p:nvPr/>
      </p:nvGrpSpPr>
      <p:grpSpPr>
        <a:xfrm>
          <a:off x="0" y="0"/>
          <a:ext cx="0" cy="0"/>
          <a:chOff x="0" y="0"/>
          <a:chExt cx="0" cy="0"/>
        </a:xfrm>
      </p:grpSpPr>
      <p:grpSp>
        <p:nvGrpSpPr>
          <p:cNvPr id="4" name="object 3">
            <a:extLst>
              <a:ext uri="{FF2B5EF4-FFF2-40B4-BE49-F238E27FC236}">
                <a16:creationId xmlns:a16="http://schemas.microsoft.com/office/drawing/2014/main" id="{D9CDA609-545B-38C8-473A-C6D1C3B9D30B}"/>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6D0424D4-678D-014B-F737-D03E2AF72EF8}"/>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59C69705-7F32-CC75-6A5D-0E8C63643E4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4D0F7810-033E-EBD2-FAC2-EC23742A1162}"/>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DE726AF3-DAB6-2AE4-8E93-4BD31AE5E1E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7425B088-19CE-D0DF-ABBF-063205091126}"/>
              </a:ext>
            </a:extLst>
          </p:cNvPr>
          <p:cNvSpPr txBox="1"/>
          <p:nvPr/>
        </p:nvSpPr>
        <p:spPr>
          <a:xfrm>
            <a:off x="3954952"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Problem Statement</a:t>
            </a:r>
          </a:p>
        </p:txBody>
      </p:sp>
      <p:sp>
        <p:nvSpPr>
          <p:cNvPr id="2" name="TextBox 1">
            <a:extLst>
              <a:ext uri="{FF2B5EF4-FFF2-40B4-BE49-F238E27FC236}">
                <a16:creationId xmlns:a16="http://schemas.microsoft.com/office/drawing/2014/main" id="{4D110677-4A2D-3FE5-5E2F-F7A64F15B963}"/>
              </a:ext>
            </a:extLst>
          </p:cNvPr>
          <p:cNvSpPr txBox="1"/>
          <p:nvPr/>
        </p:nvSpPr>
        <p:spPr>
          <a:xfrm>
            <a:off x="449390" y="1495002"/>
            <a:ext cx="9159620" cy="4062651"/>
          </a:xfrm>
          <a:prstGeom prst="rect">
            <a:avLst/>
          </a:prstGeom>
          <a:noFill/>
        </p:spPr>
        <p:txBody>
          <a:bodyPr wrap="square" rtlCol="0">
            <a:spAutoFit/>
          </a:bodyPr>
          <a:lstStyle/>
          <a:p>
            <a:pPr algn="just"/>
            <a:endParaRPr lang="en-IN" sz="2000" dirty="0"/>
          </a:p>
          <a:p>
            <a:pPr algn="just"/>
            <a:r>
              <a:rPr lang="en-IN" sz="2000" dirty="0"/>
              <a:t>Stock prices fluctuate continuously due to various market conditions, making it difficult to identify future price movements using historical data alone. Manually </a:t>
            </a:r>
            <a:r>
              <a:rPr lang="en-IN" sz="2000" dirty="0" err="1"/>
              <a:t>analyzing</a:t>
            </a:r>
            <a:r>
              <a:rPr lang="en-IN" sz="2000" dirty="0"/>
              <a:t> large amounts of stock-price data is time-consuming and may not reveal useful patterns effectively. Therefore, this project aims to develop a Machine Learning-based system to predict the next day's stock price movement as UP or DOWN using historical stock-price data. The system performs data preprocessing, feature engineering, and classification using features such as daily returns, moving averages, volatility, and RSI. Multiple machine learning algorithms, including Logistic Regression, Random Forest, and Support Vector Machine (SVM), are used and evaluated using standard classification metrics to study their performance.</a:t>
            </a:r>
          </a:p>
          <a:p>
            <a:pPr algn="just"/>
            <a:endParaRPr lang="en-IN" dirty="0"/>
          </a:p>
        </p:txBody>
      </p:sp>
      <p:pic>
        <p:nvPicPr>
          <p:cNvPr id="9" name="object 3">
            <a:extLst>
              <a:ext uri="{FF2B5EF4-FFF2-40B4-BE49-F238E27FC236}">
                <a16:creationId xmlns:a16="http://schemas.microsoft.com/office/drawing/2014/main" id="{FD57F162-9189-001A-86CA-3FC027BAA183}"/>
              </a:ext>
            </a:extLst>
          </p:cNvPr>
          <p:cNvPicPr/>
          <p:nvPr/>
        </p:nvPicPr>
        <p:blipFill>
          <a:blip r:embed="rId5" cstate="print"/>
          <a:stretch>
            <a:fillRect/>
          </a:stretch>
        </p:blipFill>
        <p:spPr>
          <a:xfrm>
            <a:off x="441153" y="411559"/>
            <a:ext cx="1159047" cy="459808"/>
          </a:xfrm>
          <a:prstGeom prst="rect">
            <a:avLst/>
          </a:prstGeom>
        </p:spPr>
      </p:pic>
    </p:spTree>
    <p:extLst>
      <p:ext uri="{BB962C8B-B14F-4D97-AF65-F5344CB8AC3E}">
        <p14:creationId xmlns:p14="http://schemas.microsoft.com/office/powerpoint/2010/main" val="4068400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sp>
        <p:nvSpPr>
          <p:cNvPr id="13" name="TextBox 12">
            <a:extLst>
              <a:ext uri="{FF2B5EF4-FFF2-40B4-BE49-F238E27FC236}">
                <a16:creationId xmlns:a16="http://schemas.microsoft.com/office/drawing/2014/main" id="{F71F55BA-986F-654A-5E2D-6EB3BA46572D}"/>
              </a:ext>
            </a:extLst>
          </p:cNvPr>
          <p:cNvSpPr txBox="1"/>
          <p:nvPr/>
        </p:nvSpPr>
        <p:spPr>
          <a:xfrm>
            <a:off x="723900" y="1185264"/>
            <a:ext cx="8572500" cy="446276"/>
          </a:xfrm>
          <a:prstGeom prst="rect">
            <a:avLst/>
          </a:prstGeom>
          <a:noFill/>
        </p:spPr>
        <p:txBody>
          <a:bodyPr wrap="square" rtlCol="0">
            <a:spAutoFit/>
          </a:bodyPr>
          <a:lstStyle/>
          <a:p>
            <a:pPr algn="l">
              <a:lnSpc>
                <a:spcPct val="100000"/>
              </a:lnSpc>
            </a:pPr>
            <a:r>
              <a:rPr lang="en-US" sz="2300" dirty="0"/>
              <a:t>	</a:t>
            </a:r>
            <a:endParaRPr lang="en-IN"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9721A48-D73E-F954-D7FB-FA885F23D5D5}"/>
              </a:ext>
            </a:extLst>
          </p:cNvPr>
          <p:cNvSpPr txBox="1"/>
          <p:nvPr/>
        </p:nvSpPr>
        <p:spPr>
          <a:xfrm>
            <a:off x="799171" y="1631540"/>
            <a:ext cx="8198525" cy="4093428"/>
          </a:xfrm>
          <a:prstGeom prst="rect">
            <a:avLst/>
          </a:prstGeom>
          <a:noFill/>
        </p:spPr>
        <p:txBody>
          <a:bodyPr wrap="square">
            <a:spAutoFit/>
          </a:bodyPr>
          <a:lstStyle/>
          <a:p>
            <a:pPr algn="just">
              <a:buNone/>
            </a:pPr>
            <a:r>
              <a:rPr lang="en-IN" sz="2000" dirty="0"/>
              <a:t>The Stock Price Movement Prediction project is a machine learning-based system designed to predict whether a stock price will move UP or DOWN on the next trading day using historical stock-price data. The project follows a structured workflow involving data collection, preprocessing, exploratory data analysis, feature engineering, and machine learning classification. Features such as daily return, moving averages, volatility, and Relative Strength Index (RSI) are used to identify meaningful patterns in historical data. The target variable is represented as 1 for UP movement and 0 for DOWN movement. Machine learning algorithms including Logistic Regression, Random Forest, and Support Vector Machine (SVM) are implemented and evaluated using accuracy, precision, recall, F1-score, and confusion matrix.</a:t>
            </a:r>
          </a:p>
        </p:txBody>
      </p:sp>
      <p:pic>
        <p:nvPicPr>
          <p:cNvPr id="12" name="object 3">
            <a:extLst>
              <a:ext uri="{FF2B5EF4-FFF2-40B4-BE49-F238E27FC236}">
                <a16:creationId xmlns:a16="http://schemas.microsoft.com/office/drawing/2014/main" id="{A0B5CCB9-0424-E824-84FC-47DDE2BDC90A}"/>
              </a:ext>
            </a:extLst>
          </p:cNvPr>
          <p:cNvPicPr/>
          <p:nvPr/>
        </p:nvPicPr>
        <p:blipFill>
          <a:blip r:embed="rId5" cstate="print"/>
          <a:stretch>
            <a:fillRect/>
          </a:stretch>
        </p:blipFill>
        <p:spPr>
          <a:xfrm>
            <a:off x="441153" y="411559"/>
            <a:ext cx="1159047" cy="4598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191000"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OBJECTIVES</a:t>
            </a:r>
          </a:p>
        </p:txBody>
      </p:sp>
      <p:sp>
        <p:nvSpPr>
          <p:cNvPr id="9" name="TextBox 8">
            <a:extLst>
              <a:ext uri="{FF2B5EF4-FFF2-40B4-BE49-F238E27FC236}">
                <a16:creationId xmlns:a16="http://schemas.microsoft.com/office/drawing/2014/main" id="{709EA7F4-2B0A-A0E5-510D-F2DBD31B2E0F}"/>
              </a:ext>
            </a:extLst>
          </p:cNvPr>
          <p:cNvSpPr txBox="1"/>
          <p:nvPr/>
        </p:nvSpPr>
        <p:spPr>
          <a:xfrm>
            <a:off x="682671" y="1752600"/>
            <a:ext cx="8915400" cy="3139321"/>
          </a:xfrm>
          <a:prstGeom prst="rect">
            <a:avLst/>
          </a:prstGeom>
          <a:noFill/>
        </p:spPr>
        <p:txBody>
          <a:bodyPr wrap="square">
            <a:spAutoFit/>
          </a:bodyPr>
          <a:lstStyle/>
          <a:p>
            <a:pPr marL="342900" lvl="0" indent="-342900" algn="just">
              <a:buFont typeface="Arial" panose="020B0604020202020204" pitchFamily="34" charset="0"/>
              <a:buChar char="•"/>
            </a:pPr>
            <a:r>
              <a:rPr lang="en-IN" dirty="0"/>
              <a:t>To </a:t>
            </a:r>
            <a:r>
              <a:rPr lang="en-IN" dirty="0" err="1"/>
              <a:t>analyze</a:t>
            </a:r>
            <a:r>
              <a:rPr lang="en-IN" dirty="0"/>
              <a:t> historical stock-price data and identify useful patterns. </a:t>
            </a:r>
          </a:p>
          <a:p>
            <a:pPr marL="342900" lvl="0" indent="-342900" algn="just">
              <a:buFont typeface="Arial" panose="020B0604020202020204" pitchFamily="34" charset="0"/>
              <a:buChar char="•"/>
            </a:pPr>
            <a:r>
              <a:rPr lang="en-IN" dirty="0"/>
              <a:t>To perform data cleaning and preprocessing on the stock dataset. </a:t>
            </a:r>
          </a:p>
          <a:p>
            <a:pPr marL="342900" lvl="0" indent="-342900" algn="just">
              <a:buFont typeface="Arial" panose="020B0604020202020204" pitchFamily="34" charset="0"/>
              <a:buChar char="•"/>
            </a:pPr>
            <a:r>
              <a:rPr lang="en-IN" dirty="0"/>
              <a:t>To generate meaningful features such as Daily Return, Moving Averages, Volatility, and RSI. </a:t>
            </a:r>
          </a:p>
          <a:p>
            <a:pPr marL="342900" lvl="0" indent="-342900" algn="just">
              <a:buFont typeface="Arial" panose="020B0604020202020204" pitchFamily="34" charset="0"/>
              <a:buChar char="•"/>
            </a:pPr>
            <a:r>
              <a:rPr lang="en-IN" dirty="0"/>
              <a:t>To predict the next-day stock-price movement as UP or DOWN. </a:t>
            </a:r>
          </a:p>
          <a:p>
            <a:pPr marL="342900" lvl="0" indent="-342900" algn="just">
              <a:buFont typeface="Arial" panose="020B0604020202020204" pitchFamily="34" charset="0"/>
              <a:buChar char="•"/>
            </a:pPr>
            <a:r>
              <a:rPr lang="en-IN" dirty="0"/>
              <a:t>To implement and compare Logistic Regression, Random Forest, and SVM classification models. </a:t>
            </a:r>
          </a:p>
          <a:p>
            <a:pPr marL="342900" lvl="0" indent="-342900" algn="just">
              <a:buFont typeface="Arial" panose="020B0604020202020204" pitchFamily="34" charset="0"/>
              <a:buChar char="•"/>
            </a:pPr>
            <a:r>
              <a:rPr lang="en-IN" dirty="0"/>
              <a:t>To evaluate model performance using Accuracy, Precision, Recall, F1-score, and Confusion Matrix. </a:t>
            </a:r>
          </a:p>
          <a:p>
            <a:pPr marL="342900" lvl="0" indent="-342900" algn="just">
              <a:buFont typeface="Arial" panose="020B0604020202020204" pitchFamily="34" charset="0"/>
              <a:buChar char="•"/>
            </a:pPr>
            <a:r>
              <a:rPr lang="en-IN" dirty="0"/>
              <a:t>To study the effectiveness of machine learning techniques for stock movement prediction.</a:t>
            </a:r>
          </a:p>
        </p:txBody>
      </p:sp>
      <p:pic>
        <p:nvPicPr>
          <p:cNvPr id="11" name="object 3">
            <a:extLst>
              <a:ext uri="{FF2B5EF4-FFF2-40B4-BE49-F238E27FC236}">
                <a16:creationId xmlns:a16="http://schemas.microsoft.com/office/drawing/2014/main" id="{62C2ABCD-9D34-E81B-9E5C-702C00177BF2}"/>
              </a:ext>
            </a:extLst>
          </p:cNvPr>
          <p:cNvPicPr/>
          <p:nvPr/>
        </p:nvPicPr>
        <p:blipFill>
          <a:blip r:embed="rId5" cstate="print"/>
          <a:stretch>
            <a:fillRect/>
          </a:stretch>
        </p:blipFill>
        <p:spPr>
          <a:xfrm>
            <a:off x="441153" y="411559"/>
            <a:ext cx="1159047" cy="459808"/>
          </a:xfrm>
          <a:prstGeom prst="rect">
            <a:avLst/>
          </a:prstGeom>
        </p:spPr>
      </p:pic>
    </p:spTree>
    <p:extLst>
      <p:ext uri="{BB962C8B-B14F-4D97-AF65-F5344CB8AC3E}">
        <p14:creationId xmlns:p14="http://schemas.microsoft.com/office/powerpoint/2010/main" val="86789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657600" y="344896"/>
            <a:ext cx="5029200" cy="392415"/>
          </a:xfrm>
          <a:prstGeom prst="rect">
            <a:avLst/>
          </a:prstGeom>
          <a:noFill/>
        </p:spPr>
        <p:txBody>
          <a:bodyPr wrap="square">
            <a:spAutoFit/>
          </a:bodyPr>
          <a:lstStyle/>
          <a:p>
            <a:pPr algn="l"/>
            <a:r>
              <a:rPr lang="en-US" sz="1950" b="1" dirty="0">
                <a:solidFill>
                  <a:schemeClr val="bg1"/>
                </a:solidFill>
                <a:latin typeface="Times New Roman" panose="02020603050405020304" pitchFamily="18" charset="0"/>
                <a:cs typeface="Times New Roman" panose="02020603050405020304" pitchFamily="18" charset="0"/>
              </a:rPr>
              <a:t>DATA PREPROCESSING</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9" name="Image 0" descr="preencoded.png">
            <a:extLst>
              <a:ext uri="{FF2B5EF4-FFF2-40B4-BE49-F238E27FC236}">
                <a16:creationId xmlns:a16="http://schemas.microsoft.com/office/drawing/2014/main" id="{7C1CB6E6-F59B-B739-4A2D-59C0C0113D2C}"/>
              </a:ext>
            </a:extLst>
          </p:cNvPr>
          <p:cNvPicPr>
            <a:picLocks noChangeAspect="1"/>
          </p:cNvPicPr>
          <p:nvPr/>
        </p:nvPicPr>
        <p:blipFill>
          <a:blip r:embed="rId5"/>
          <a:stretch>
            <a:fillRect/>
          </a:stretch>
        </p:blipFill>
        <p:spPr>
          <a:xfrm>
            <a:off x="2314982" y="1373688"/>
            <a:ext cx="5781832" cy="2480361"/>
          </a:xfrm>
          <a:prstGeom prst="rect">
            <a:avLst/>
          </a:prstGeom>
        </p:spPr>
      </p:pic>
      <p:sp>
        <p:nvSpPr>
          <p:cNvPr id="11" name="Text 4">
            <a:extLst>
              <a:ext uri="{FF2B5EF4-FFF2-40B4-BE49-F238E27FC236}">
                <a16:creationId xmlns:a16="http://schemas.microsoft.com/office/drawing/2014/main" id="{5916CB84-314B-1047-400A-0B944E181046}"/>
              </a:ext>
            </a:extLst>
          </p:cNvPr>
          <p:cNvSpPr/>
          <p:nvPr/>
        </p:nvSpPr>
        <p:spPr>
          <a:xfrm>
            <a:off x="2468956" y="3119120"/>
            <a:ext cx="1300502" cy="457200"/>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3C3939"/>
                </a:solidFill>
                <a:latin typeface="Raleway" pitchFamily="34" charset="0"/>
                <a:ea typeface="Raleway" pitchFamily="34" charset="-122"/>
                <a:cs typeface="Raleway" pitchFamily="34" charset="-120"/>
              </a:rPr>
              <a:t>Load &amp; Inspect</a:t>
            </a:r>
            <a:endParaRPr lang="en-US" sz="1150" dirty="0"/>
          </a:p>
        </p:txBody>
      </p:sp>
      <p:sp>
        <p:nvSpPr>
          <p:cNvPr id="13" name="Text 3">
            <a:extLst>
              <a:ext uri="{FF2B5EF4-FFF2-40B4-BE49-F238E27FC236}">
                <a16:creationId xmlns:a16="http://schemas.microsoft.com/office/drawing/2014/main" id="{90422E29-6C54-3BDB-7F56-D4E17B5C0F0D}"/>
              </a:ext>
            </a:extLst>
          </p:cNvPr>
          <p:cNvSpPr/>
          <p:nvPr/>
        </p:nvSpPr>
        <p:spPr>
          <a:xfrm>
            <a:off x="3999119" y="3124200"/>
            <a:ext cx="1300502" cy="457200"/>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3C3939"/>
                </a:solidFill>
                <a:latin typeface="Raleway" pitchFamily="34" charset="0"/>
                <a:ea typeface="Raleway" pitchFamily="34" charset="-122"/>
                <a:cs typeface="Raleway" pitchFamily="34" charset="-120"/>
              </a:rPr>
              <a:t>Date Handling</a:t>
            </a:r>
            <a:endParaRPr lang="en-US" sz="1150" dirty="0"/>
          </a:p>
        </p:txBody>
      </p:sp>
      <p:sp>
        <p:nvSpPr>
          <p:cNvPr id="16" name="Text 2">
            <a:extLst>
              <a:ext uri="{FF2B5EF4-FFF2-40B4-BE49-F238E27FC236}">
                <a16:creationId xmlns:a16="http://schemas.microsoft.com/office/drawing/2014/main" id="{B1EADD15-4AD5-7703-4AE1-D6ED6526190A}"/>
              </a:ext>
            </a:extLst>
          </p:cNvPr>
          <p:cNvSpPr/>
          <p:nvPr/>
        </p:nvSpPr>
        <p:spPr>
          <a:xfrm>
            <a:off x="5205898" y="3124200"/>
            <a:ext cx="1300502" cy="457200"/>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3C3939"/>
                </a:solidFill>
                <a:latin typeface="Raleway" pitchFamily="34" charset="0"/>
                <a:ea typeface="Raleway" pitchFamily="34" charset="-122"/>
                <a:cs typeface="Raleway" pitchFamily="34" charset="-120"/>
              </a:rPr>
              <a:t>Feature Engineering</a:t>
            </a:r>
            <a:endParaRPr lang="en-US" sz="1150" dirty="0"/>
          </a:p>
        </p:txBody>
      </p:sp>
      <p:sp>
        <p:nvSpPr>
          <p:cNvPr id="19" name="Text 1">
            <a:extLst>
              <a:ext uri="{FF2B5EF4-FFF2-40B4-BE49-F238E27FC236}">
                <a16:creationId xmlns:a16="http://schemas.microsoft.com/office/drawing/2014/main" id="{6E32348A-1647-3A64-7A54-E424DF05B113}"/>
              </a:ext>
            </a:extLst>
          </p:cNvPr>
          <p:cNvSpPr/>
          <p:nvPr/>
        </p:nvSpPr>
        <p:spPr>
          <a:xfrm>
            <a:off x="6419272" y="3124200"/>
            <a:ext cx="1300502" cy="457200"/>
          </a:xfrm>
          <a:prstGeom prst="rect">
            <a:avLst/>
          </a:prstGeom>
          <a:noFill/>
          <a:ln/>
        </p:spPr>
        <p:txBody>
          <a:bodyPr wrap="square" lIns="0" tIns="0" rIns="0" bIns="0" rtlCol="0" anchor="t">
            <a:normAutofit/>
          </a:bodyPr>
          <a:lstStyle/>
          <a:p>
            <a:pPr marL="0" indent="0" algn="ctr">
              <a:lnSpc>
                <a:spcPct val="104000"/>
              </a:lnSpc>
              <a:buNone/>
            </a:pPr>
            <a:r>
              <a:rPr lang="en-US" sz="1150" dirty="0">
                <a:solidFill>
                  <a:srgbClr val="3C3939"/>
                </a:solidFill>
                <a:latin typeface="Raleway" pitchFamily="34" charset="0"/>
                <a:ea typeface="Raleway" pitchFamily="34" charset="-122"/>
                <a:cs typeface="Raleway" pitchFamily="34" charset="-120"/>
              </a:rPr>
              <a:t>Target Creation</a:t>
            </a:r>
            <a:endParaRPr lang="en-US" sz="1150" dirty="0"/>
          </a:p>
        </p:txBody>
      </p:sp>
      <p:sp>
        <p:nvSpPr>
          <p:cNvPr id="21" name="TextBox 20">
            <a:extLst>
              <a:ext uri="{FF2B5EF4-FFF2-40B4-BE49-F238E27FC236}">
                <a16:creationId xmlns:a16="http://schemas.microsoft.com/office/drawing/2014/main" id="{4ADE3498-D9B0-30D5-2AF9-DA156F8D21B1}"/>
              </a:ext>
            </a:extLst>
          </p:cNvPr>
          <p:cNvSpPr txBox="1"/>
          <p:nvPr/>
        </p:nvSpPr>
        <p:spPr>
          <a:xfrm>
            <a:off x="1229200" y="3854049"/>
            <a:ext cx="7990999" cy="2215991"/>
          </a:xfrm>
          <a:prstGeom prst="rect">
            <a:avLst/>
          </a:prstGeom>
          <a:noFill/>
        </p:spPr>
        <p:txBody>
          <a:bodyPr wrap="square">
            <a:spAutoFit/>
          </a:bodyPr>
          <a:lstStyle/>
          <a:p>
            <a:pPr marL="342900" lvl="0" indent="-342900">
              <a:buFont typeface="+mj-lt"/>
              <a:buAutoNum type="arabicPeriod"/>
            </a:pPr>
            <a:r>
              <a:rPr lang="en-IN" dirty="0"/>
              <a:t>Load &amp; Inspect Data – </a:t>
            </a:r>
            <a:r>
              <a:rPr lang="en-IN" sz="1600" dirty="0"/>
              <a:t>Import the stock-price CSV into Pandas and check its shape, columns, data types, and structure.</a:t>
            </a:r>
            <a:r>
              <a:rPr lang="en-IN" dirty="0"/>
              <a:t> </a:t>
            </a:r>
          </a:p>
          <a:p>
            <a:pPr marL="342900" lvl="0" indent="-342900">
              <a:buFont typeface="+mj-lt"/>
              <a:buAutoNum type="arabicPeriod"/>
            </a:pPr>
            <a:r>
              <a:rPr lang="en-IN" dirty="0"/>
              <a:t>Clean &amp; Organize Data – </a:t>
            </a:r>
            <a:r>
              <a:rPr lang="en-IN" sz="1600" dirty="0"/>
              <a:t>Handle missing values and duplicates, convert the Date column, and sort the data chronologically. </a:t>
            </a:r>
          </a:p>
          <a:p>
            <a:pPr marL="342900" lvl="0" indent="-342900">
              <a:buFont typeface="+mj-lt"/>
              <a:buAutoNum type="arabicPeriod"/>
            </a:pPr>
            <a:r>
              <a:rPr lang="en-IN" dirty="0"/>
              <a:t>Feature Creation – </a:t>
            </a:r>
            <a:r>
              <a:rPr lang="en-IN" sz="1600" dirty="0"/>
              <a:t>Generate features such as Daily Return, MA_5, MA_10, MA_20, Volatility, and RSI, and remove rows with insufficient historical data. </a:t>
            </a:r>
          </a:p>
          <a:p>
            <a:pPr marL="342900" lvl="0" indent="-342900">
              <a:buFont typeface="+mj-lt"/>
              <a:buAutoNum type="arabicPeriod"/>
            </a:pPr>
            <a:r>
              <a:rPr lang="en-IN" dirty="0"/>
              <a:t>Target Creation – </a:t>
            </a:r>
            <a:r>
              <a:rPr lang="en-IN" sz="1600" dirty="0"/>
              <a:t>Create the target variable based on next-day price movement: 1 = UP and 0 = DOWN. </a:t>
            </a:r>
          </a:p>
        </p:txBody>
      </p:sp>
      <p:pic>
        <p:nvPicPr>
          <p:cNvPr id="23" name="object 3">
            <a:extLst>
              <a:ext uri="{FF2B5EF4-FFF2-40B4-BE49-F238E27FC236}">
                <a16:creationId xmlns:a16="http://schemas.microsoft.com/office/drawing/2014/main" id="{14C21D1C-0BCC-310F-9563-7C1FB059EDD1}"/>
              </a:ext>
            </a:extLst>
          </p:cNvPr>
          <p:cNvPicPr/>
          <p:nvPr/>
        </p:nvPicPr>
        <p:blipFill>
          <a:blip r:embed="rId6" cstate="print"/>
          <a:stretch>
            <a:fillRect/>
          </a:stretch>
        </p:blipFill>
        <p:spPr>
          <a:xfrm>
            <a:off x="441153" y="411559"/>
            <a:ext cx="1159047" cy="45980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198F5-6B38-797B-FE8B-3903BAA15720}"/>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3424300F-2F5D-38AC-601A-C77F8E406868}"/>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4B333912-714E-A0D3-D7DA-B7C6E21642DA}"/>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2A1F79B0-148B-B822-34B9-98B430AD2050}"/>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22D6BC05-7275-2ED5-6B21-702EF0B09FC9}"/>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382CB69B-0E1C-D5AE-A809-854F597B88D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2" name="object 9">
            <a:extLst>
              <a:ext uri="{FF2B5EF4-FFF2-40B4-BE49-F238E27FC236}">
                <a16:creationId xmlns:a16="http://schemas.microsoft.com/office/drawing/2014/main" id="{F12E8FEC-5074-CCA5-E375-71DCC2F6E5F1}"/>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US" sz="1950" dirty="0">
                <a:solidFill>
                  <a:schemeClr val="bg1"/>
                </a:solidFill>
                <a:latin typeface="Times New Roman" panose="02020603050405020304" pitchFamily="18" charset="0"/>
                <a:cs typeface="Times New Roman" panose="02020603050405020304" pitchFamily="18" charset="0"/>
              </a:rPr>
              <a:t>METHODOLOGY</a:t>
            </a: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3" name="object 3">
            <a:extLst>
              <a:ext uri="{FF2B5EF4-FFF2-40B4-BE49-F238E27FC236}">
                <a16:creationId xmlns:a16="http://schemas.microsoft.com/office/drawing/2014/main" id="{94FDE077-7CA6-F8D9-E267-F866AB538B9A}"/>
              </a:ext>
            </a:extLst>
          </p:cNvPr>
          <p:cNvPicPr/>
          <p:nvPr/>
        </p:nvPicPr>
        <p:blipFill>
          <a:blip r:embed="rId6" cstate="print"/>
          <a:stretch>
            <a:fillRect/>
          </a:stretch>
        </p:blipFill>
        <p:spPr>
          <a:xfrm>
            <a:off x="441153" y="411559"/>
            <a:ext cx="1159047" cy="459808"/>
          </a:xfrm>
          <a:prstGeom prst="rect">
            <a:avLst/>
          </a:prstGeom>
        </p:spPr>
      </p:pic>
      <p:pic>
        <p:nvPicPr>
          <p:cNvPr id="4" name="Picture 3">
            <a:extLst>
              <a:ext uri="{FF2B5EF4-FFF2-40B4-BE49-F238E27FC236}">
                <a16:creationId xmlns:a16="http://schemas.microsoft.com/office/drawing/2014/main" id="{7798CCCE-500E-C688-3B56-51AA43BB91AE}"/>
              </a:ext>
            </a:extLst>
          </p:cNvPr>
          <p:cNvPicPr>
            <a:picLocks noChangeAspect="1"/>
          </p:cNvPicPr>
          <p:nvPr/>
        </p:nvPicPr>
        <p:blipFill>
          <a:blip r:embed="rId7"/>
          <a:stretch>
            <a:fillRect/>
          </a:stretch>
        </p:blipFill>
        <p:spPr>
          <a:xfrm>
            <a:off x="1600200" y="915789"/>
            <a:ext cx="6705600" cy="3168531"/>
          </a:xfrm>
          <a:prstGeom prst="rect">
            <a:avLst/>
          </a:prstGeom>
        </p:spPr>
      </p:pic>
      <p:sp>
        <p:nvSpPr>
          <p:cNvPr id="6" name="TextBox 5">
            <a:extLst>
              <a:ext uri="{FF2B5EF4-FFF2-40B4-BE49-F238E27FC236}">
                <a16:creationId xmlns:a16="http://schemas.microsoft.com/office/drawing/2014/main" id="{B4495D0B-8F98-C2BD-D549-F04A49700D68}"/>
              </a:ext>
            </a:extLst>
          </p:cNvPr>
          <p:cNvSpPr txBox="1"/>
          <p:nvPr/>
        </p:nvSpPr>
        <p:spPr>
          <a:xfrm>
            <a:off x="1066800" y="4267200"/>
            <a:ext cx="8077200" cy="2523768"/>
          </a:xfrm>
          <a:prstGeom prst="rect">
            <a:avLst/>
          </a:prstGeom>
          <a:noFill/>
        </p:spPr>
        <p:txBody>
          <a:bodyPr wrap="square">
            <a:spAutoFit/>
          </a:bodyPr>
          <a:lstStyle/>
          <a:p>
            <a:pPr marL="342900" lvl="0" indent="-342900">
              <a:buFont typeface="+mj-lt"/>
              <a:buAutoNum type="arabicPeriod"/>
            </a:pPr>
            <a:r>
              <a:rPr lang="en-IN" sz="1700" dirty="0"/>
              <a:t>Data Collection &amp; Preprocessing </a:t>
            </a:r>
            <a:r>
              <a:rPr lang="en-IN" sz="1500" dirty="0"/>
              <a:t>– Collect, inspect, clean, and chronologically organize the stock data, then create the target (UP = 1, DOWN = 0). </a:t>
            </a:r>
          </a:p>
          <a:p>
            <a:pPr marL="342900" lvl="0" indent="-342900">
              <a:buFont typeface="+mj-lt"/>
              <a:buAutoNum type="arabicPeriod"/>
            </a:pPr>
            <a:r>
              <a:rPr lang="en-IN" sz="1700" dirty="0"/>
              <a:t>Feature Engineering &amp; Data Preparation </a:t>
            </a:r>
            <a:r>
              <a:rPr lang="en-IN" sz="1500" dirty="0"/>
              <a:t>– Generate returns, lag features, moving averages, volatility, and momentum, followed by feature selection and 80:20 train-test splitting with scaling where required. </a:t>
            </a:r>
          </a:p>
          <a:p>
            <a:pPr marL="342900" lvl="0" indent="-342900">
              <a:buFont typeface="+mj-lt"/>
              <a:buAutoNum type="arabicPeriod"/>
            </a:pPr>
            <a:r>
              <a:rPr lang="en-IN" sz="1700" dirty="0"/>
              <a:t>Model Training &amp; Evaluation </a:t>
            </a:r>
            <a:r>
              <a:rPr lang="en-IN" sz="1500" dirty="0"/>
              <a:t>– Train Logistic Regression, SVM, Random Forest, Extra Trees, Gradient Boosting, and </a:t>
            </a:r>
            <a:r>
              <a:rPr lang="en-IN" sz="1500" dirty="0" err="1"/>
              <a:t>HistGradientBoosting</a:t>
            </a:r>
            <a:r>
              <a:rPr lang="en-IN" sz="1500" dirty="0"/>
              <a:t>, and compare them using Accuracy, Precision, Recall, F1-score, Confusion Matrix, and ROC-AUC. </a:t>
            </a:r>
          </a:p>
          <a:p>
            <a:pPr marL="342900" lvl="0" indent="-342900">
              <a:buFont typeface="+mj-lt"/>
              <a:buAutoNum type="arabicPeriod"/>
            </a:pPr>
            <a:r>
              <a:rPr lang="en-IN" sz="1700" dirty="0"/>
              <a:t>Model Selection &amp; Saving </a:t>
            </a:r>
            <a:r>
              <a:rPr lang="en-IN" sz="1500" dirty="0"/>
              <a:t>– Select the model based on evaluation results and save the selected model along with the preprocessing components for future predictions.</a:t>
            </a:r>
          </a:p>
        </p:txBody>
      </p:sp>
    </p:spTree>
    <p:extLst>
      <p:ext uri="{BB962C8B-B14F-4D97-AF65-F5344CB8AC3E}">
        <p14:creationId xmlns:p14="http://schemas.microsoft.com/office/powerpoint/2010/main" val="1572129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58826-85CF-391A-0B93-770923989130}"/>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D62E641E-AAF2-A241-4F09-64DFD957654A}"/>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AA414441-9294-AF47-3BD2-BDA310FCCFDD}"/>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489AB392-78A8-D042-7800-88C036D7A12C}"/>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62D52161-DBA7-3CF0-A59E-3B2C14A62E8C}"/>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0AB961A-4E8E-56D1-165A-22F3A733B8E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2" name="object 9">
            <a:extLst>
              <a:ext uri="{FF2B5EF4-FFF2-40B4-BE49-F238E27FC236}">
                <a16:creationId xmlns:a16="http://schemas.microsoft.com/office/drawing/2014/main" id="{6A6B6F9B-0110-B064-5DF8-8F1DB9ABBF4C}"/>
              </a:ext>
            </a:extLst>
          </p:cNvPr>
          <p:cNvSpPr txBox="1">
            <a:spLocks noGrp="1"/>
          </p:cNvSpPr>
          <p:nvPr>
            <p:ph type="title"/>
          </p:nvPr>
        </p:nvSpPr>
        <p:spPr>
          <a:xfrm>
            <a:off x="4061539" y="421077"/>
            <a:ext cx="2455545" cy="316753"/>
          </a:xfrm>
          <a:prstGeom prst="rect">
            <a:avLst/>
          </a:prstGeom>
        </p:spPr>
        <p:txBody>
          <a:bodyPr vert="horz" wrap="square" lIns="0" tIns="16510" rIns="0" bIns="0" rtlCol="0">
            <a:spAutoFit/>
          </a:bodyPr>
          <a:lstStyle/>
          <a:p>
            <a:pPr marL="12700">
              <a:lnSpc>
                <a:spcPct val="100000"/>
              </a:lnSpc>
              <a:spcBef>
                <a:spcPts val="130"/>
              </a:spcBef>
            </a:pPr>
            <a:r>
              <a:rPr lang="en-US" sz="1950" dirty="0">
                <a:solidFill>
                  <a:schemeClr val="bg1"/>
                </a:solidFill>
                <a:latin typeface="Times New Roman" panose="02020603050405020304" pitchFamily="18" charset="0"/>
                <a:cs typeface="Times New Roman" panose="02020603050405020304" pitchFamily="18" charset="0"/>
              </a:rPr>
              <a:t>ML MODELS</a:t>
            </a: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10F5BD0F-2284-E116-5732-29B0EB89E6F6}"/>
              </a:ext>
            </a:extLst>
          </p:cNvPr>
          <p:cNvPicPr/>
          <p:nvPr/>
        </p:nvPicPr>
        <p:blipFill>
          <a:blip r:embed="rId6" cstate="print"/>
          <a:stretch>
            <a:fillRect/>
          </a:stretch>
        </p:blipFill>
        <p:spPr>
          <a:xfrm>
            <a:off x="441153" y="411559"/>
            <a:ext cx="1159047" cy="459808"/>
          </a:xfrm>
          <a:prstGeom prst="rect">
            <a:avLst/>
          </a:prstGeom>
        </p:spPr>
      </p:pic>
      <p:sp>
        <p:nvSpPr>
          <p:cNvPr id="14" name="TextBox 13">
            <a:extLst>
              <a:ext uri="{FF2B5EF4-FFF2-40B4-BE49-F238E27FC236}">
                <a16:creationId xmlns:a16="http://schemas.microsoft.com/office/drawing/2014/main" id="{7EC6CB60-F4A6-DFB6-F7E0-C7168F173412}"/>
              </a:ext>
            </a:extLst>
          </p:cNvPr>
          <p:cNvSpPr txBox="1"/>
          <p:nvPr/>
        </p:nvSpPr>
        <p:spPr>
          <a:xfrm>
            <a:off x="869711" y="4782017"/>
            <a:ext cx="8839200" cy="2646878"/>
          </a:xfrm>
          <a:prstGeom prst="rect">
            <a:avLst/>
          </a:prstGeom>
          <a:noFill/>
        </p:spPr>
        <p:txBody>
          <a:bodyPr wrap="square">
            <a:spAutoFit/>
          </a:bodyPr>
          <a:lstStyle/>
          <a:p>
            <a:pPr>
              <a:buNone/>
            </a:pPr>
            <a:r>
              <a:rPr lang="en-IN" sz="1900" dirty="0"/>
              <a:t>ML Models Used in the Project</a:t>
            </a:r>
          </a:p>
          <a:p>
            <a:pPr marL="342900" lvl="0" indent="-342900">
              <a:buFont typeface="+mj-lt"/>
              <a:buAutoNum type="arabicPeriod"/>
            </a:pPr>
            <a:r>
              <a:rPr lang="en-IN" sz="1700" dirty="0"/>
              <a:t>Logistic Regression </a:t>
            </a:r>
            <a:r>
              <a:rPr lang="en-IN" sz="1500" dirty="0"/>
              <a:t>– Used for binary classification of stock movement as UP or DOWN. </a:t>
            </a:r>
          </a:p>
          <a:p>
            <a:pPr marL="342900" lvl="0" indent="-342900">
              <a:buFont typeface="+mj-lt"/>
              <a:buAutoNum type="arabicPeriod"/>
            </a:pPr>
            <a:r>
              <a:rPr lang="en-IN" sz="1700" dirty="0"/>
              <a:t>Support Vector Machine </a:t>
            </a:r>
            <a:r>
              <a:rPr lang="en-IN" sz="1500" dirty="0"/>
              <a:t>(SVM) – Classifies stock movements by finding an optimal decision boundary. </a:t>
            </a:r>
          </a:p>
          <a:p>
            <a:pPr marL="342900" lvl="0" indent="-342900">
              <a:buFont typeface="+mj-lt"/>
              <a:buAutoNum type="arabicPeriod"/>
            </a:pPr>
            <a:r>
              <a:rPr lang="en-IN" sz="1700" dirty="0"/>
              <a:t>Random Forest</a:t>
            </a:r>
            <a:r>
              <a:rPr lang="en-IN" sz="1500" dirty="0"/>
              <a:t> – Uses multiple decision trees to make predictions. </a:t>
            </a:r>
          </a:p>
          <a:p>
            <a:pPr marL="342900" lvl="0" indent="-342900">
              <a:buFont typeface="+mj-lt"/>
              <a:buAutoNum type="arabicPeriod"/>
            </a:pPr>
            <a:r>
              <a:rPr lang="en-IN" sz="1700" dirty="0"/>
              <a:t>Extra Trees Classifier </a:t>
            </a:r>
            <a:r>
              <a:rPr lang="en-IN" sz="1500" dirty="0"/>
              <a:t>– Uses randomized decision trees to capture complex patterns. </a:t>
            </a:r>
          </a:p>
          <a:p>
            <a:pPr marL="342900" lvl="0" indent="-342900">
              <a:buFont typeface="+mj-lt"/>
              <a:buAutoNum type="arabicPeriod"/>
            </a:pPr>
            <a:r>
              <a:rPr lang="en-IN" sz="1700" dirty="0"/>
              <a:t>Gradient Boosting </a:t>
            </a:r>
            <a:r>
              <a:rPr lang="en-IN" sz="1500" dirty="0"/>
              <a:t>– Builds sequential decision trees to improve prediction performance. </a:t>
            </a:r>
          </a:p>
          <a:p>
            <a:pPr marL="342900" lvl="0" indent="-342900">
              <a:buFont typeface="+mj-lt"/>
              <a:buAutoNum type="arabicPeriod"/>
            </a:pPr>
            <a:r>
              <a:rPr lang="en-IN" sz="1700" dirty="0" err="1"/>
              <a:t>HistGradientBoosting</a:t>
            </a:r>
            <a:r>
              <a:rPr lang="en-IN" sz="1500" dirty="0"/>
              <a:t> – A faster histogram-based boosting model suitable for larger datasets</a:t>
            </a:r>
            <a:br>
              <a:rPr lang="en-IN" sz="1500" dirty="0"/>
            </a:br>
            <a:r>
              <a:rPr lang="en-IN" sz="1500" dirty="0"/>
              <a:t> </a:t>
            </a:r>
          </a:p>
          <a:p>
            <a:pPr lvl="0"/>
            <a:r>
              <a:rPr lang="en-IN" sz="1500" b="1" dirty="0"/>
              <a:t>Final selected model</a:t>
            </a:r>
            <a:r>
              <a:rPr lang="en-IN" sz="1500" dirty="0"/>
              <a:t>: Logistic Regression, based on the highest F1-score in the tested results.</a:t>
            </a:r>
          </a:p>
        </p:txBody>
      </p:sp>
      <p:pic>
        <p:nvPicPr>
          <p:cNvPr id="16" name="Picture 15">
            <a:extLst>
              <a:ext uri="{FF2B5EF4-FFF2-40B4-BE49-F238E27FC236}">
                <a16:creationId xmlns:a16="http://schemas.microsoft.com/office/drawing/2014/main" id="{02AA98EC-F147-D530-A94D-EB775EBF17B2}"/>
              </a:ext>
            </a:extLst>
          </p:cNvPr>
          <p:cNvPicPr>
            <a:picLocks noChangeAspect="1"/>
          </p:cNvPicPr>
          <p:nvPr/>
        </p:nvPicPr>
        <p:blipFill>
          <a:blip r:embed="rId7"/>
          <a:stretch>
            <a:fillRect/>
          </a:stretch>
        </p:blipFill>
        <p:spPr>
          <a:xfrm>
            <a:off x="2245519" y="1168299"/>
            <a:ext cx="5410200" cy="3342805"/>
          </a:xfrm>
          <a:prstGeom prst="rect">
            <a:avLst/>
          </a:prstGeom>
        </p:spPr>
      </p:pic>
    </p:spTree>
    <p:extLst>
      <p:ext uri="{BB962C8B-B14F-4D97-AF65-F5344CB8AC3E}">
        <p14:creationId xmlns:p14="http://schemas.microsoft.com/office/powerpoint/2010/main" val="1207798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E6525-324B-19D5-AC27-36D5028495F9}"/>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F73FD169-82C4-4CBF-F368-95232FF7BF19}"/>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AC513F20-8575-5F48-19B1-6B720392C589}"/>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4DC7C7F5-242C-29C9-CD92-CDF42558D52E}"/>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C6D4EF82-298C-FF88-DE13-E0846C838470}"/>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46797719-69D4-44EF-B063-00FE24AEA3E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2" name="object 9">
            <a:extLst>
              <a:ext uri="{FF2B5EF4-FFF2-40B4-BE49-F238E27FC236}">
                <a16:creationId xmlns:a16="http://schemas.microsoft.com/office/drawing/2014/main" id="{1FA18340-6735-EC22-4E97-0A7A1A15C70C}"/>
              </a:ext>
            </a:extLst>
          </p:cNvPr>
          <p:cNvSpPr txBox="1">
            <a:spLocks noGrp="1"/>
          </p:cNvSpPr>
          <p:nvPr>
            <p:ph type="title"/>
          </p:nvPr>
        </p:nvSpPr>
        <p:spPr>
          <a:xfrm>
            <a:off x="3581400" y="429568"/>
            <a:ext cx="3025061" cy="316753"/>
          </a:xfrm>
          <a:prstGeom prst="rect">
            <a:avLst/>
          </a:prstGeom>
        </p:spPr>
        <p:txBody>
          <a:bodyPr vert="horz" wrap="square" lIns="0" tIns="16510" rIns="0" bIns="0" rtlCol="0">
            <a:spAutoFit/>
          </a:bodyPr>
          <a:lstStyle/>
          <a:p>
            <a:pPr marL="12700">
              <a:lnSpc>
                <a:spcPct val="100000"/>
              </a:lnSpc>
              <a:spcBef>
                <a:spcPts val="130"/>
              </a:spcBef>
            </a:pPr>
            <a:r>
              <a:rPr lang="en-US" sz="1950" dirty="0">
                <a:solidFill>
                  <a:schemeClr val="bg1"/>
                </a:solidFill>
                <a:latin typeface="Times New Roman" panose="02020603050405020304" pitchFamily="18" charset="0"/>
                <a:cs typeface="Times New Roman" panose="02020603050405020304" pitchFamily="18" charset="0"/>
              </a:rPr>
              <a:t>EVALUATION METRICS</a:t>
            </a: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9F272DE7-340E-79E0-680A-230FA7DD66D7}"/>
              </a:ext>
            </a:extLst>
          </p:cNvPr>
          <p:cNvPicPr/>
          <p:nvPr/>
        </p:nvPicPr>
        <p:blipFill>
          <a:blip r:embed="rId6" cstate="print"/>
          <a:stretch>
            <a:fillRect/>
          </a:stretch>
        </p:blipFill>
        <p:spPr>
          <a:xfrm>
            <a:off x="441153" y="411559"/>
            <a:ext cx="1159047" cy="459808"/>
          </a:xfrm>
          <a:prstGeom prst="rect">
            <a:avLst/>
          </a:prstGeom>
        </p:spPr>
      </p:pic>
      <p:pic>
        <p:nvPicPr>
          <p:cNvPr id="3" name="Picture 2">
            <a:extLst>
              <a:ext uri="{FF2B5EF4-FFF2-40B4-BE49-F238E27FC236}">
                <a16:creationId xmlns:a16="http://schemas.microsoft.com/office/drawing/2014/main" id="{D148E343-ACA3-9989-C5CD-C35BA875E667}"/>
              </a:ext>
            </a:extLst>
          </p:cNvPr>
          <p:cNvPicPr>
            <a:picLocks noChangeAspect="1"/>
          </p:cNvPicPr>
          <p:nvPr/>
        </p:nvPicPr>
        <p:blipFill>
          <a:blip r:embed="rId7"/>
          <a:stretch>
            <a:fillRect/>
          </a:stretch>
        </p:blipFill>
        <p:spPr>
          <a:xfrm>
            <a:off x="636230" y="1143000"/>
            <a:ext cx="8915400" cy="5929533"/>
          </a:xfrm>
          <a:prstGeom prst="rect">
            <a:avLst/>
          </a:prstGeom>
        </p:spPr>
      </p:pic>
    </p:spTree>
    <p:extLst>
      <p:ext uri="{BB962C8B-B14F-4D97-AF65-F5344CB8AC3E}">
        <p14:creationId xmlns:p14="http://schemas.microsoft.com/office/powerpoint/2010/main" val="1141630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1C900-758D-8926-0B62-60C164F05758}"/>
            </a:ext>
          </a:extLst>
        </p:cNvPr>
        <p:cNvGrpSpPr/>
        <p:nvPr/>
      </p:nvGrpSpPr>
      <p:grpSpPr>
        <a:xfrm>
          <a:off x="0" y="0"/>
          <a:ext cx="0" cy="0"/>
          <a:chOff x="0" y="0"/>
          <a:chExt cx="0" cy="0"/>
        </a:xfrm>
      </p:grpSpPr>
      <p:grpSp>
        <p:nvGrpSpPr>
          <p:cNvPr id="7" name="object 3">
            <a:extLst>
              <a:ext uri="{FF2B5EF4-FFF2-40B4-BE49-F238E27FC236}">
                <a16:creationId xmlns:a16="http://schemas.microsoft.com/office/drawing/2014/main" id="{B6034EF3-9A5D-B0E2-8AF3-ED399ED5F5B9}"/>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F89AC18-1810-B250-1BD7-C696A69F063E}"/>
                </a:ext>
              </a:extLst>
            </p:cNvPr>
            <p:cNvPicPr/>
            <p:nvPr/>
          </p:nvPicPr>
          <p:blipFill>
            <a:blip r:embed="rId3"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E4827F8F-4BA2-6F31-1585-29DBFB02473B}"/>
                </a:ext>
              </a:extLst>
            </p:cNvPr>
            <p:cNvPicPr/>
            <p:nvPr/>
          </p:nvPicPr>
          <p:blipFill>
            <a:blip r:embed="rId4"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7752FA8F-3AB4-941D-AE8F-3A029AE9DCAF}"/>
                </a:ext>
              </a:extLst>
            </p:cNvPr>
            <p:cNvPicPr/>
            <p:nvPr/>
          </p:nvPicPr>
          <p:blipFill>
            <a:blip r:embed="rId5"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106480C6-7C97-E4F0-9F34-C13CCA72C9A6}"/>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2" name="object 9">
            <a:extLst>
              <a:ext uri="{FF2B5EF4-FFF2-40B4-BE49-F238E27FC236}">
                <a16:creationId xmlns:a16="http://schemas.microsoft.com/office/drawing/2014/main" id="{E815C37A-E6E5-847D-B955-B070DD23E7DF}"/>
              </a:ext>
            </a:extLst>
          </p:cNvPr>
          <p:cNvSpPr txBox="1">
            <a:spLocks noGrp="1"/>
          </p:cNvSpPr>
          <p:nvPr>
            <p:ph type="title"/>
          </p:nvPr>
        </p:nvSpPr>
        <p:spPr>
          <a:xfrm>
            <a:off x="3962400" y="429568"/>
            <a:ext cx="3025061" cy="316753"/>
          </a:xfrm>
          <a:prstGeom prst="rect">
            <a:avLst/>
          </a:prstGeom>
        </p:spPr>
        <p:txBody>
          <a:bodyPr vert="horz" wrap="square" lIns="0" tIns="16510" rIns="0" bIns="0" rtlCol="0">
            <a:spAutoFit/>
          </a:bodyPr>
          <a:lstStyle/>
          <a:p>
            <a:pPr marL="12700">
              <a:lnSpc>
                <a:spcPct val="100000"/>
              </a:lnSpc>
              <a:spcBef>
                <a:spcPts val="130"/>
              </a:spcBef>
            </a:pPr>
            <a:r>
              <a:rPr lang="en-US" sz="1950" dirty="0">
                <a:solidFill>
                  <a:schemeClr val="bg1"/>
                </a:solidFill>
                <a:latin typeface="Times New Roman" panose="02020603050405020304" pitchFamily="18" charset="0"/>
                <a:cs typeface="Times New Roman" panose="02020603050405020304" pitchFamily="18" charset="0"/>
              </a:rPr>
              <a:t>CONCLUSION</a:t>
            </a:r>
            <a:endParaRPr lang="en-IN" sz="1950" dirty="0">
              <a:solidFill>
                <a:schemeClr val="bg1"/>
              </a:solidFill>
              <a:latin typeface="Times New Roman" panose="02020603050405020304" pitchFamily="18" charset="0"/>
              <a:cs typeface="Times New Roman" panose="02020603050405020304" pitchFamily="18" charset="0"/>
            </a:endParaRPr>
          </a:p>
        </p:txBody>
      </p:sp>
      <p:pic>
        <p:nvPicPr>
          <p:cNvPr id="13" name="object 3">
            <a:extLst>
              <a:ext uri="{FF2B5EF4-FFF2-40B4-BE49-F238E27FC236}">
                <a16:creationId xmlns:a16="http://schemas.microsoft.com/office/drawing/2014/main" id="{8710B68E-61A1-F622-BAED-2CE669177404}"/>
              </a:ext>
            </a:extLst>
          </p:cNvPr>
          <p:cNvPicPr/>
          <p:nvPr/>
        </p:nvPicPr>
        <p:blipFill>
          <a:blip r:embed="rId6" cstate="print"/>
          <a:stretch>
            <a:fillRect/>
          </a:stretch>
        </p:blipFill>
        <p:spPr>
          <a:xfrm>
            <a:off x="441153" y="411559"/>
            <a:ext cx="1159047" cy="459808"/>
          </a:xfrm>
          <a:prstGeom prst="rect">
            <a:avLst/>
          </a:prstGeom>
        </p:spPr>
      </p:pic>
      <p:sp>
        <p:nvSpPr>
          <p:cNvPr id="3" name="TextBox 2">
            <a:extLst>
              <a:ext uri="{FF2B5EF4-FFF2-40B4-BE49-F238E27FC236}">
                <a16:creationId xmlns:a16="http://schemas.microsoft.com/office/drawing/2014/main" id="{DE88EE48-A1E5-4F27-1400-D05ABFF6FA8B}"/>
              </a:ext>
            </a:extLst>
          </p:cNvPr>
          <p:cNvSpPr txBox="1"/>
          <p:nvPr/>
        </p:nvSpPr>
        <p:spPr>
          <a:xfrm>
            <a:off x="1037403" y="2057400"/>
            <a:ext cx="8077200" cy="1938992"/>
          </a:xfrm>
          <a:prstGeom prst="rect">
            <a:avLst/>
          </a:prstGeom>
          <a:noFill/>
        </p:spPr>
        <p:txBody>
          <a:bodyPr wrap="square">
            <a:spAutoFit/>
          </a:bodyPr>
          <a:lstStyle/>
          <a:p>
            <a:pPr algn="just">
              <a:buNone/>
            </a:pPr>
            <a:r>
              <a:rPr lang="en-IN" sz="2000" dirty="0"/>
              <a:t>The project successfully developed a machine learning system to predict next-day stock movement as UP or DOWN. Multiple models were trained and evaluated, with Logistic Regression selected based on the highest F1-score. The system demonstrates how machine learning can be applied to historical stock data for movement prediction.</a:t>
            </a:r>
          </a:p>
        </p:txBody>
      </p:sp>
    </p:spTree>
    <p:extLst>
      <p:ext uri="{BB962C8B-B14F-4D97-AF65-F5344CB8AC3E}">
        <p14:creationId xmlns:p14="http://schemas.microsoft.com/office/powerpoint/2010/main" val="427758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058148" cy="77656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1" y="0"/>
            <a:ext cx="10058149" cy="777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FA3294-FAAD-4F1A-0DA3-CA7D0AC36387}"/>
              </a:ext>
            </a:extLst>
          </p:cNvPr>
          <p:cNvSpPr>
            <a:spLocks noGrp="1"/>
          </p:cNvSpPr>
          <p:nvPr>
            <p:ph type="title"/>
          </p:nvPr>
        </p:nvSpPr>
        <p:spPr>
          <a:xfrm>
            <a:off x="5437296" y="4836876"/>
            <a:ext cx="3964946" cy="1470063"/>
          </a:xfrm>
        </p:spPr>
        <p:txBody>
          <a:bodyPr vert="horz" lIns="91440" tIns="45720" rIns="91440" bIns="45720" rtlCol="0" anchor="t">
            <a:normAutofit/>
          </a:bodyPr>
          <a:lstStyle/>
          <a:p>
            <a:pPr algn="l" rtl="0">
              <a:lnSpc>
                <a:spcPct val="90000"/>
              </a:lnSpc>
              <a:spcBef>
                <a:spcPct val="0"/>
              </a:spcBef>
            </a:pPr>
            <a:r>
              <a:rPr lang="en-US" sz="3900" kern="1200">
                <a:solidFill>
                  <a:schemeClr val="tx2"/>
                </a:solidFill>
                <a:latin typeface="+mj-lt"/>
                <a:ea typeface="+mj-ea"/>
                <a:cs typeface="+mj-cs"/>
              </a:rPr>
              <a:t>THANK YOU</a:t>
            </a:r>
          </a:p>
        </p:txBody>
      </p:sp>
      <p:pic>
        <p:nvPicPr>
          <p:cNvPr id="18" name="Graphic 17" descr="Handshake">
            <a:extLst>
              <a:ext uri="{FF2B5EF4-FFF2-40B4-BE49-F238E27FC236}">
                <a16:creationId xmlns:a16="http://schemas.microsoft.com/office/drawing/2014/main" id="{14492CC3-0C83-9167-882D-318B73E6270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80887" y="2695883"/>
            <a:ext cx="3416952" cy="3416952"/>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5" name="Group 2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08" y="-6773"/>
            <a:ext cx="5146906" cy="7779175"/>
            <a:chOff x="305" y="-5977"/>
            <a:chExt cx="6238675" cy="6863979"/>
          </a:xfrm>
        </p:grpSpPr>
        <p:sp>
          <p:nvSpPr>
            <p:cNvPr id="26" name="Freeform: Shape 2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2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object 3">
            <a:extLst>
              <a:ext uri="{FF2B5EF4-FFF2-40B4-BE49-F238E27FC236}">
                <a16:creationId xmlns:a16="http://schemas.microsoft.com/office/drawing/2014/main" id="{D453202F-3BE2-6C79-38BB-CAB31D84568B}"/>
              </a:ext>
            </a:extLst>
          </p:cNvPr>
          <p:cNvPicPr/>
          <p:nvPr/>
        </p:nvPicPr>
        <p:blipFill>
          <a:blip r:embed="rId3"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845065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18"/>
                                        </p:tgtEl>
                                        <p:attrNameLst>
                                          <p:attrName>style.visibility</p:attrName>
                                        </p:attrNameLst>
                                      </p:cBhvr>
                                      <p:to>
                                        <p:strVal val="visible"/>
                                      </p:to>
                                    </p:set>
                                    <p:animEffect transition="in" filter="fade">
                                      <p:cBhvr>
                                        <p:cTn id="10" dur="7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3359</TotalTime>
  <Words>812</Words>
  <Application>Microsoft Office PowerPoint</Application>
  <PresentationFormat>Custom</PresentationFormat>
  <Paragraphs>49</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Palatino Linotype</vt:lpstr>
      <vt:lpstr>Raleway</vt:lpstr>
      <vt:lpstr>Times New Roman</vt:lpstr>
      <vt:lpstr>Office Theme</vt:lpstr>
      <vt:lpstr>Machine Learning Second Review</vt:lpstr>
      <vt:lpstr>PowerPoint Presentation</vt:lpstr>
      <vt:lpstr>ABSTRACT</vt:lpstr>
      <vt:lpstr>PowerPoint Presentation</vt:lpstr>
      <vt:lpstr>PowerPoint Presentation</vt:lpstr>
      <vt:lpstr>METHODOLOGY</vt:lpstr>
      <vt:lpstr>ML MODELS</vt:lpstr>
      <vt:lpstr>EVALUATION METRICS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Bharadwaj NB</cp:lastModifiedBy>
  <cp:revision>117</cp:revision>
  <cp:lastPrinted>2025-10-14T18:21:49Z</cp:lastPrinted>
  <dcterms:created xsi:type="dcterms:W3CDTF">2025-10-10T08:28:06Z</dcterms:created>
  <dcterms:modified xsi:type="dcterms:W3CDTF">2026-09-29T03:08:22Z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